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ECY · ARCHITECTURE &amp; BIM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51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RESOLVED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i="0">
                <a:solidFill>
                  <a:srgbClr val="ECE3D1"/>
                </a:solidFill>
                <a:latin typeface="Segoe UI Light"/>
              </a:rPr>
              <a:t>The scattered, </a:t>
            </a:r>
            <a:r>
              <a:rPr sz="5400" b="0" i="1">
                <a:solidFill>
                  <a:srgbClr val="BD9457"/>
                </a:solidFill>
                <a:latin typeface="Segoe UI Light"/>
              </a:rPr>
              <a:t>resolved</a:t>
            </a:r>
          </a:p>
          <a:p>
            <a:pPr algn="l">
              <a:lnSpc>
                <a:spcPct val="98000"/>
              </a:lnSpc>
            </a:pPr>
            <a:r>
              <a:rPr sz="5400" b="0" i="0">
                <a:solidFill>
                  <a:srgbClr val="ECE3D1"/>
                </a:solidFill>
                <a:latin typeface="Segoe UI Light"/>
              </a:rPr>
              <a:t>into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5488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AE99"/>
                </a:solidFill>
                <a:latin typeface="Segoe UI Light"/>
              </a:rPr>
              <a:t>Your ISO 19650-aligned offshore BIM partner — with a UK-based point of contact.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3492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D9457"/>
                </a:solidFill>
                <a:latin typeface="Consolas"/>
              </a:rPr>
              <a:t>FOUNDED BY AN AUTODESK EXPERT ELITE · A RECOGNITION HELD BY ONLY ~250 PROFESSIONALS WORLDWIDE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Enes Cemil Yağcı · Founder &amp; BIM Manager    ·    Rami Daşkın · UK Representative · +44 7786 410586        </a:t>
            </a:r>
            <a:r>
              <a:rPr sz="950" b="0" i="0">
                <a:solidFill>
                  <a:srgbClr val="877C6B"/>
                </a:solidFill>
                <a:latin typeface="Consolas"/>
              </a:rPr>
              <a:t>ecy.com.tr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ECE3D1"/>
                </a:solidFill>
                <a:latin typeface="Segoe UI Light"/>
              </a:rPr>
              <a:t>A young studio,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3800" b="0" i="0">
                <a:solidFill>
                  <a:srgbClr val="ECE3D1"/>
                </a:solidFill>
                <a:latin typeface="Segoe UI Light"/>
              </a:rPr>
              <a:t>a </a:t>
            </a:r>
            <a:r>
              <a:rPr sz="3800" b="0" i="1">
                <a:solidFill>
                  <a:srgbClr val="BD9457"/>
                </a:solidFill>
                <a:latin typeface="Segoe UI Light"/>
              </a:rPr>
              <a:t>measured</a:t>
            </a:r>
            <a:r>
              <a:rPr sz="3800" b="0" i="0">
                <a:solidFill>
                  <a:srgbClr val="ECE3D1"/>
                </a:solidFill>
                <a:latin typeface="Segoe UI Light"/>
              </a:rPr>
              <a:t> record.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877C6B"/>
                </a:solidFill>
                <a:latin typeface="Segoe UI Light"/>
              </a:rPr>
              <a:t>Founded 2022 in Adana, Türkiye. Standards-led, ISO 19650. The production engine behind UK practices, contractors and surveyors — not a competitor.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37744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ECE3D1"/>
                </a:solidFill>
                <a:latin typeface="Segoe UI Light"/>
              </a:rPr>
              <a:t>218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PROJECTS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749039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ECE3D1"/>
                </a:solidFill>
                <a:latin typeface="Segoe UI Light"/>
              </a:rPr>
              <a:t>17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2064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ECE3D1"/>
                </a:solidFill>
                <a:latin typeface="Segoe UI Light"/>
              </a:rPr>
              <a:t>15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YEARS, TEAM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CE3D1"/>
                </a:solidFill>
                <a:latin typeface="Segoe UI Light"/>
              </a:rPr>
              <a:t>Demand is measured.</a:t>
            </a:r>
          </a:p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CE3D1"/>
                </a:solidFill>
                <a:latin typeface="Segoe UI Light"/>
              </a:rPr>
              <a:t>Capacity is </a:t>
            </a:r>
            <a:r>
              <a:rPr sz="4000" b="0" i="1">
                <a:solidFill>
                  <a:srgbClr val="BD9457"/>
                </a:solidFill>
                <a:latin typeface="Segoe UI Light"/>
              </a:rPr>
              <a:t>not</a:t>
            </a:r>
            <a:r>
              <a:rPr sz="4000" b="0" i="0">
                <a:solidFill>
                  <a:srgbClr val="ECE3D1"/>
                </a:solidFill>
                <a:latin typeface="Segoe UI Ligh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01   </a:t>
            </a:r>
            <a:r>
              <a:rPr sz="1600" b="0" i="0">
                <a:solidFill>
                  <a:srgbClr val="ECE3D1"/>
                </a:solidFill>
                <a:latin typeface="Segoe UI"/>
              </a:rPr>
              <a:t>ISO 19650 obligations on almost every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1647" y="41422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02   </a:t>
            </a:r>
            <a:r>
              <a:rPr sz="1600" b="0" i="0">
                <a:solidFill>
                  <a:srgbClr val="ECE3D1"/>
                </a:solidFill>
                <a:latin typeface="Segoe UI"/>
              </a:rPr>
              <a:t>BIM talent is scarce and expensive to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1647" y="4709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248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03   </a:t>
            </a:r>
            <a:r>
              <a:rPr sz="1600" b="0" i="0">
                <a:solidFill>
                  <a:srgbClr val="ECE3D1"/>
                </a:solidFill>
                <a:latin typeface="Segoe UI"/>
              </a:rPr>
              <a:t>Deadline spikes don't justify permanent headcount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52760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CE3D1"/>
                </a:solidFill>
                <a:latin typeface="Segoe UI Light"/>
              </a:rPr>
              <a:t>Five instruments.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346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S—01   </a:t>
            </a:r>
            <a:r>
              <a:rPr sz="1650" b="0" i="0">
                <a:solidFill>
                  <a:srgbClr val="ECE3D1"/>
                </a:solidFill>
                <a:latin typeface="Segoe UI"/>
              </a:rPr>
              <a:t>BIM Modelling · Revit · arch / struct / MEP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55887" y="28620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LOD 300–400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38144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S—02   </a:t>
            </a:r>
            <a:r>
              <a:rPr sz="1650" b="0" i="0">
                <a:solidFill>
                  <a:srgbClr val="ECE3D1"/>
                </a:solidFill>
                <a:latin typeface="Segoe UI"/>
              </a:rPr>
              <a:t>Scan-to-BIM · point cloud to as-built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5887" y="346557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CLOUD →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41648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S—03   </a:t>
            </a:r>
            <a:r>
              <a:rPr sz="1650" b="0" i="0">
                <a:solidFill>
                  <a:srgbClr val="ECE3D1"/>
                </a:solidFill>
                <a:latin typeface="Segoe UI"/>
              </a:rPr>
              <a:t>Coordination &amp; Clash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5887" y="4069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NAVISWORKS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645152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S—04   </a:t>
            </a:r>
            <a:r>
              <a:rPr sz="1650" b="0" i="0">
                <a:solidFill>
                  <a:srgbClr val="ECE3D1"/>
                </a:solidFill>
                <a:latin typeface="Segoe UI"/>
              </a:rPr>
              <a:t>4D / 5D · programme &amp;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5887" y="467258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PRIMAVERA P6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248656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S—05   </a:t>
            </a:r>
            <a:r>
              <a:rPr sz="1650" b="0" i="0">
                <a:solidFill>
                  <a:srgbClr val="ECE3D1"/>
                </a:solidFill>
                <a:latin typeface="Segoe UI"/>
              </a:rPr>
              <a:t>BEP &amp; CDE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5887" y="52760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6657"/>
                </a:solidFill>
                <a:latin typeface="Consolas"/>
              </a:rPr>
              <a:t>ISO 19650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WHY ECY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800" b="0" i="0">
                <a:solidFill>
                  <a:srgbClr val="ECE3D1"/>
                </a:solidFill>
                <a:latin typeface="Segoe UI Light"/>
              </a:rPr>
              <a:t>An axis that </a:t>
            </a:r>
            <a:r>
              <a:rPr sz="3800" b="0" i="1">
                <a:solidFill>
                  <a:srgbClr val="BD9457"/>
                </a:solidFill>
                <a:latin typeface="Segoe UI Light"/>
              </a:rPr>
              <a:t>aligns</a:t>
            </a:r>
            <a:r>
              <a:rPr sz="3800" b="0" i="0">
                <a:solidFill>
                  <a:srgbClr val="ECE3D1"/>
                </a:solidFill>
                <a:latin typeface="Segoe UI Light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877C6B"/>
                </a:solidFill>
                <a:latin typeface="Segoe UI Light"/>
              </a:rPr>
              <a:t>One warm metal carries the tension: a contact in your time zone, on UK soil, from intro to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94760"/>
            <a:ext cx="5120640" cy="2240280"/>
          </a:xfrm>
          <a:prstGeom prst="rect">
            <a:avLst/>
          </a:prstGeom>
          <a:solidFill>
            <a:srgbClr val="241C13"/>
          </a:solidFill>
          <a:ln w="19050">
            <a:solidFill>
              <a:srgbClr val="BD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4663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D9457"/>
                </a:solidFill>
                <a:latin typeface="Consolas"/>
              </a:rPr>
              <a:t>AUTODESK EXPERT ELITE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DBB571"/>
                </a:solidFill>
                <a:latin typeface="Segoe UI Light"/>
              </a:rPr>
              <a:t>~250 </a:t>
            </a:r>
            <a:r>
              <a:rPr sz="1300" b="0" i="0">
                <a:solidFill>
                  <a:srgbClr val="B9AE99"/>
                </a:solidFill>
                <a:latin typeface="Segoe UI Light"/>
              </a:rPr>
              <a:t>hold this worldwide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77C6B"/>
                </a:solidFill>
                <a:latin typeface="Segoe UI Light"/>
              </a:rPr>
              <a:t>Our founder, Enes Cemil Yağcı, is one of them — Autodesk's global recognition of verified expertise and community contribution.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D9457"/>
                </a:solidFill>
                <a:latin typeface="Consolas"/>
              </a:rPr>
              <a:t>·  </a:t>
            </a:r>
            <a:r>
              <a:rPr sz="1450" b="0" i="0">
                <a:solidFill>
                  <a:srgbClr val="ECE3D1"/>
                </a:solidFill>
                <a:latin typeface="Segoe UI"/>
              </a:rPr>
              <a:t>UK-based contact — Rami, 26 yrs in the 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24048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6657"/>
                </a:solidFill>
                <a:latin typeface="Consolas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358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D9457"/>
                </a:solidFill>
                <a:latin typeface="Consolas"/>
              </a:rPr>
              <a:t>·  </a:t>
            </a:r>
            <a:r>
              <a:rPr sz="1450" b="0" i="0">
                <a:solidFill>
                  <a:srgbClr val="DBB571"/>
                </a:solidFill>
                <a:latin typeface="Segoe UI"/>
              </a:rPr>
              <a:t>Autodesk Expert Elite founder · ~250 worldwide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95967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6657"/>
                </a:solidFill>
                <a:latin typeface="Consolas"/>
              </a:rPr>
              <a:t>ELITE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9417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D9457"/>
                </a:solidFill>
                <a:latin typeface="Consolas"/>
              </a:rPr>
              <a:t>·  </a:t>
            </a:r>
            <a:r>
              <a:rPr sz="1450" b="0" i="0">
                <a:solidFill>
                  <a:srgbClr val="ECE3D1"/>
                </a:solidFill>
                <a:latin typeface="Segoe UI"/>
              </a:rPr>
              <a:t>openBIM Foundation · Primavera P6 certified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37216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6657"/>
                </a:solidFill>
                <a:latin typeface="Consolas"/>
              </a:rPr>
              <a:t>CERTIFIED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5254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D9457"/>
                </a:solidFill>
                <a:latin typeface="Consolas"/>
              </a:rPr>
              <a:t>·  </a:t>
            </a:r>
            <a:r>
              <a:rPr sz="1450" b="0" i="0">
                <a:solidFill>
                  <a:srgbClr val="ECE3D1"/>
                </a:solidFill>
                <a:latin typeface="Segoe UI"/>
              </a:rPr>
              <a:t>Delivery across 17 countries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5967" y="43799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6657"/>
                </a:solidFill>
                <a:latin typeface="Consolas"/>
              </a:rPr>
              <a:t>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0109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D9457"/>
                </a:solidFill>
                <a:latin typeface="Consolas"/>
              </a:rPr>
              <a:t>·  </a:t>
            </a:r>
            <a:r>
              <a:rPr sz="1450" b="0" i="0">
                <a:solidFill>
                  <a:srgbClr val="ECE3D1"/>
                </a:solidFill>
                <a:latin typeface="Segoe UI"/>
              </a:rPr>
              <a:t>Competitive rates, kept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503834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6657"/>
                </a:solidFill>
                <a:latin typeface="Consolas"/>
              </a:rPr>
              <a:t>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CASE STUDY · IRAQ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06 / 12</a:t>
            </a:r>
          </a:p>
        </p:txBody>
      </p:sp>
      <p:pic>
        <p:nvPicPr>
          <p:cNvPr id="5" name="Picture 4" descr="proj_erb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212080" cy="3840480"/>
          </a:xfrm>
          <a:prstGeom prst="rect">
            <a:avLst/>
          </a:prstGeom>
          <a:ln w="12700">
            <a:solidFill>
              <a:srgbClr val="2A211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1248" y="1463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D9457"/>
                </a:solidFill>
                <a:latin typeface="Consolas"/>
              </a:rPr>
              <a:t>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74519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ECE3D1"/>
                </a:solidFill>
                <a:latin typeface="Segoe UI Light"/>
              </a:rPr>
              <a:t>Erbil International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2608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9AE99"/>
                </a:solidFill>
                <a:latin typeface="Segoe UI Light"/>
              </a:rPr>
              <a:t>Structural BIM · federated coordination. A large, complex structure brought into a single coordinated model — issues caught in the model, not on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000" b="0" i="0">
                <a:solidFill>
                  <a:srgbClr val="ECE3D1"/>
                </a:solidFill>
                <a:latin typeface="Segoe UI Light"/>
              </a:rPr>
              <a:t>LOD 350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77C6B"/>
                </a:solidFill>
                <a:latin typeface="Consolas"/>
              </a:rPr>
              <a:t>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4572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000" b="0" i="0">
                <a:solidFill>
                  <a:srgbClr val="BD9457"/>
                </a:solidFill>
                <a:latin typeface="Segoe UI Light"/>
              </a:rPr>
              <a:t>829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77C6B"/>
                </a:solidFill>
                <a:latin typeface="Consolas"/>
              </a:rPr>
              <a:t>CLASHES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4572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000" b="0" i="0">
                <a:solidFill>
                  <a:srgbClr val="ECE3D1"/>
                </a:solidFill>
                <a:latin typeface="Segoe UI Light"/>
              </a:rPr>
              <a:t>20 wk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77C6B"/>
                </a:solidFill>
                <a:latin typeface="Consolas"/>
              </a:rPr>
              <a:t>TURNAROUND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CASE STUDY · NETHERLANDS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77C6B"/>
                </a:solidFill>
                <a:latin typeface="Consolas"/>
              </a:rPr>
              <a:t>BEFORE · REGISTERED POINT CLOUD</a:t>
            </a:r>
          </a:p>
        </p:txBody>
      </p:sp>
      <p:pic>
        <p:nvPicPr>
          <p:cNvPr id="6" name="Picture 5" descr="HEMA_012_f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81328"/>
            <a:ext cx="5852160" cy="2103120"/>
          </a:xfrm>
          <a:prstGeom prst="rect">
            <a:avLst/>
          </a:prstGeom>
          <a:ln w="12700">
            <a:solidFill>
              <a:srgbClr val="2A211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0" y="3767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D9457"/>
                </a:solidFill>
                <a:latin typeface="Consolas"/>
              </a:rPr>
              <a:t>AFTER · AS-BUILT REVIT MODEL</a:t>
            </a:r>
          </a:p>
        </p:txBody>
      </p:sp>
      <p:pic>
        <p:nvPicPr>
          <p:cNvPr id="8" name="Picture 7" descr="HEMA_01_f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059936"/>
            <a:ext cx="5852160" cy="2103120"/>
          </a:xfrm>
          <a:prstGeom prst="rect">
            <a:avLst/>
          </a:prstGeom>
          <a:ln w="12700">
            <a:solidFill>
              <a:srgbClr val="2A211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1248" y="148132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D9457"/>
                </a:solidFill>
                <a:latin typeface="Consolas"/>
              </a:rPr>
              <a:t>SCAN-TO-BIM · CLOUD RESOLVES TO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2024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ECE3D1"/>
                </a:solidFill>
                <a:latin typeface="Segoe UI Light"/>
              </a:rPr>
              <a:t>HEMA, </a:t>
            </a:r>
            <a:r>
              <a:rPr sz="3400" b="0" i="1">
                <a:solidFill>
                  <a:srgbClr val="BD9457"/>
                </a:solidFill>
                <a:latin typeface="Segoe UI Light"/>
              </a:rPr>
              <a:t>Emmen</a:t>
            </a:r>
            <a:r>
              <a:rPr sz="3400" b="0" i="0">
                <a:solidFill>
                  <a:srgbClr val="ECE3D1"/>
                </a:solidFill>
                <a:latin typeface="Segoe UI Ligh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4320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9AE99"/>
                </a:solidFill>
                <a:latin typeface="Segoe UI Light"/>
              </a:rPr>
              <a:t>The same corner, twice: a registered point cloud pulled patiently into an accurate as-built Revit model — the literal proof of what we 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1206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ECE3D1"/>
                </a:solidFill>
                <a:latin typeface="Segoe UI Light"/>
              </a:rPr>
              <a:t>3 500 m²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AREA CAPTURED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51206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BD9457"/>
                </a:solidFill>
                <a:latin typeface="Segoe UI Light"/>
              </a:rPr>
              <a:t>LOD 300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512064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ECE3D1"/>
                </a:solidFill>
                <a:latin typeface="Segoe UI Light"/>
              </a:rPr>
              <a:t>8 wk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TOTAL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SELECTED EXPERIENCE · UNITED KINGDOM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08 / 12</a:t>
            </a:r>
          </a:p>
        </p:txBody>
      </p:sp>
      <p:pic>
        <p:nvPicPr>
          <p:cNvPr id="5" name="Picture 4" descr="proj_le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212080" cy="3840480"/>
          </a:xfrm>
          <a:prstGeom prst="rect">
            <a:avLst/>
          </a:prstGeom>
          <a:ln w="12700">
            <a:solidFill>
              <a:srgbClr val="2A211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1248" y="1463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D9457"/>
                </a:solidFill>
                <a:latin typeface="Consolas"/>
              </a:rPr>
              <a:t>TRACK RECORD ·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74519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ECE3D1"/>
                </a:solidFill>
                <a:latin typeface="Segoe UI Light"/>
              </a:rPr>
              <a:t>Leas Pavilion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0604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0" i="0">
                <a:solidFill>
                  <a:srgbClr val="B9AE99"/>
                </a:solidFill>
                <a:latin typeface="Segoe UI Light"/>
              </a:rPr>
              <a:t>Folkestone, Kent — restoration of a Grade II listed Edwardian tea room (1902), with a new nine-storey development of 91 sea-view apartments rising above it.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77C6B"/>
                </a:solidFill>
                <a:latin typeface="Segoe UI Light"/>
              </a:rPr>
              <a:t>RIBA Stage 5–7 execution drawings and structural, mechanical &amp; electrical coordination; BIM model and subcontractor drawing review for dimensional accuracy and tolerances — led by ECY's BIM Manager, Enes Cemil Yağcı. Part of the expertise ECY now brings to British clients.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578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BD9457"/>
                </a:solidFill>
                <a:latin typeface="Segoe UI Light"/>
              </a:rPr>
              <a:t>1902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GRADE II LISTED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52578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ECE3D1"/>
                </a:solidFill>
                <a:latin typeface="Segoe UI Light"/>
              </a:rPr>
              <a:t>91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APARTMENTS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52578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ECE3D1"/>
                </a:solidFill>
                <a:latin typeface="Segoe UI Light"/>
              </a:rPr>
              <a:t>5–7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RIBA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52578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200" b="0" i="0">
                <a:solidFill>
                  <a:srgbClr val="ECE3D1"/>
                </a:solidFill>
                <a:latin typeface="Segoe UI Light"/>
              </a:rPr>
              <a:t>133,715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77C6B"/>
                </a:solidFill>
                <a:latin typeface="Consolas"/>
              </a:rPr>
              <a:t>SQ 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0">
                <a:solidFill>
                  <a:srgbClr val="ECE3D1"/>
                </a:solidFill>
                <a:latin typeface="Segoe UI Light"/>
              </a:rPr>
              <a:t>We work to </a:t>
            </a:r>
            <a:r>
              <a:rPr sz="3800" b="0" i="1">
                <a:solidFill>
                  <a:srgbClr val="BD9457"/>
                </a:solidFill>
                <a:latin typeface="Segoe UI Light"/>
              </a:rPr>
              <a:t>your</a:t>
            </a:r>
            <a:r>
              <a:rPr sz="3800" b="0" i="0">
                <a:solidFill>
                  <a:srgbClr val="ECE3D1"/>
                </a:solidFill>
                <a:latin typeface="Segoe UI Light"/>
              </a:rPr>
              <a:t>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5760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BD9457"/>
                </a:solidFill>
                <a:latin typeface="Consolas"/>
              </a:rPr>
              <a:t>01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9AE99"/>
                </a:solidFill>
                <a:latin typeface="Segoe UI Light"/>
              </a:rPr>
              <a:t>Onboard — your BEP, naming, CDE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9232" y="365760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BD9457"/>
                </a:solidFill>
                <a:latin typeface="Consolas"/>
              </a:rPr>
              <a:t>02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9AE99"/>
                </a:solidFill>
                <a:latin typeface="Segoe UI Light"/>
              </a:rPr>
              <a:t>Produce — agreed LOD, WIP check-ins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6" y="365760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BD9457"/>
                </a:solidFill>
                <a:latin typeface="Consolas"/>
              </a:rPr>
              <a:t>03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9AE99"/>
                </a:solidFill>
                <a:latin typeface="Segoe UI Light"/>
              </a:rPr>
              <a:t>QA — internal checks before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65760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BD9457"/>
                </a:solidFill>
                <a:latin typeface="Consolas"/>
              </a:rPr>
              <a:t>04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9AE99"/>
                </a:solidFill>
                <a:latin typeface="Segoe UI Light"/>
              </a:rPr>
              <a:t>Deliver — via your CDE, ISO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3184" y="365760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 i="0">
                <a:solidFill>
                  <a:srgbClr val="BD9457"/>
                </a:solidFill>
                <a:latin typeface="Consolas"/>
              </a:rPr>
              <a:t>05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B9AE99"/>
                </a:solidFill>
                <a:latin typeface="Segoe UI Light"/>
              </a:rPr>
              <a:t>Report — clear progress &amp;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CE3D1"/>
                </a:solidFill>
                <a:latin typeface="Segoe UI Light"/>
              </a:rPr>
              <a:t>Three ways to engage.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834640"/>
            <a:ext cx="3291840" cy="2286000"/>
          </a:xfrm>
          <a:prstGeom prst="rect">
            <a:avLst/>
          </a:prstGeom>
          <a:solidFill>
            <a:srgbClr val="1E1811"/>
          </a:solidFill>
          <a:ln w="12700">
            <a:solidFill>
              <a:srgbClr val="2C2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900">
                <a:solidFill>
                  <a:srgbClr val="BD9457"/>
                </a:solidFill>
                <a:latin typeface="Consolas"/>
              </a:rPr>
              <a:t>MODEL A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ECE3D1"/>
                </a:solidFill>
                <a:latin typeface="Segoe UI Semibold"/>
              </a:rPr>
              <a:t>Fixed-fee per project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77C6B"/>
                </a:solidFill>
                <a:latin typeface="Segoe UI Light"/>
              </a:rPr>
              <a:t>Defined scope, milestone payments. Best for bounded deliverables.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834640"/>
            <a:ext cx="3291840" cy="2286000"/>
          </a:xfrm>
          <a:prstGeom prst="rect">
            <a:avLst/>
          </a:prstGeom>
          <a:solidFill>
            <a:srgbClr val="241C13"/>
          </a:solidFill>
          <a:ln w="19050">
            <a:solidFill>
              <a:srgbClr val="BD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900">
                <a:solidFill>
                  <a:srgbClr val="BD9457"/>
                </a:solidFill>
                <a:latin typeface="Consolas"/>
              </a:rPr>
              <a:t>MOST POPULAR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ECE3D1"/>
                </a:solidFill>
                <a:latin typeface="Segoe UI Semibold"/>
              </a:rPr>
              <a:t>Dedicated BIM resource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77C6B"/>
                </a:solidFill>
                <a:latin typeface="Segoe UI Light"/>
              </a:rPr>
              <a:t>A monthly FTE working as part of your team. Predictable, scalable.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45552" y="2834640"/>
            <a:ext cx="3291840" cy="2286000"/>
          </a:xfrm>
          <a:prstGeom prst="rect">
            <a:avLst/>
          </a:prstGeom>
          <a:solidFill>
            <a:srgbClr val="1E1811"/>
          </a:solidFill>
          <a:ln w="12700">
            <a:solidFill>
              <a:srgbClr val="2C2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sz="900">
                <a:solidFill>
                  <a:srgbClr val="BD9457"/>
                </a:solidFill>
                <a:latin typeface="Consolas"/>
              </a:rPr>
              <a:t>MODEL C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ECE3D1"/>
                </a:solidFill>
                <a:latin typeface="Segoe UI Semibold"/>
              </a:rPr>
              <a:t>Per-unit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77C6B"/>
                </a:solidFill>
                <a:latin typeface="Segoe UI Light"/>
              </a:rPr>
              <a:t>Per model / sheet / m². Transparent for high-volume Scan-to-BIM.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Priced in GBP · NDA + service agreement · deposit + milestones · UK reverse charge applies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YOUR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D9457"/>
                </a:solidFill>
                <a:latin typeface="Consolas"/>
              </a:rPr>
              <a:t>TWO POINTS, ONE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CE3D1"/>
                </a:solidFill>
                <a:latin typeface="Segoe UI Light"/>
              </a:rPr>
              <a:t>Always someone to talk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 i="0">
                <a:solidFill>
                  <a:srgbClr val="877C6B"/>
                </a:solidFill>
                <a:latin typeface="Consolas"/>
              </a:rPr>
              <a:t>UNITED KINGDOM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 i="0">
                <a:solidFill>
                  <a:srgbClr val="ECE3D1"/>
                </a:solidFill>
                <a:latin typeface="Segoe UI Light"/>
              </a:rPr>
              <a:t>Rami Daşkın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BD9457"/>
                </a:solidFill>
                <a:latin typeface="Segoe UI"/>
              </a:rPr>
              <a:t>UK Representative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9AE99"/>
                </a:solidFill>
                <a:latin typeface="Consolas"/>
              </a:rPr>
              <a:t>+44 7786 410586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9AE99"/>
                </a:solidFill>
                <a:latin typeface="Consolas"/>
              </a:rPr>
              <a:t>rami@ecy.com.tr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877C6B"/>
                </a:solidFill>
                <a:latin typeface="Segoe UI Light"/>
              </a:rPr>
              <a:t>26 years in the UK · same time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900" b="0" i="0">
                <a:solidFill>
                  <a:srgbClr val="877C6B"/>
                </a:solidFill>
                <a:latin typeface="Consolas"/>
              </a:rPr>
              <a:t>TÜRKİYE · HEAD OFFICE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 i="0">
                <a:solidFill>
                  <a:srgbClr val="ECE3D1"/>
                </a:solidFill>
                <a:latin typeface="Segoe UI Light"/>
              </a:rPr>
              <a:t>Enes Cemil Yağcı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BD9457"/>
                </a:solidFill>
                <a:latin typeface="Segoe UI"/>
              </a:rPr>
              <a:t>Founder &amp; BIM Manager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9AE99"/>
                </a:solidFill>
                <a:latin typeface="Consolas"/>
              </a:rPr>
              <a:t>+90 533 566 67 80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9AE99"/>
                </a:solidFill>
                <a:latin typeface="Consolas"/>
              </a:rPr>
              <a:t>info@ecy.com.tr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150" b="0" i="0">
                <a:solidFill>
                  <a:srgbClr val="877C6B"/>
                </a:solidFill>
                <a:latin typeface="Segoe UI Light"/>
              </a:rPr>
              <a:t>Adana · ecy.com.tr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BEGIN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7247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77C6B"/>
                </a:solidFill>
                <a:latin typeface="Consolas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D9457"/>
                </a:solidFill>
                <a:latin typeface="Consolas"/>
              </a:rPr>
              <a:t>START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ECE3D1"/>
                </a:solidFill>
                <a:latin typeface="Segoe UI Light"/>
              </a:rPr>
              <a:t>Let's resolve</a:t>
            </a:r>
          </a:p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ECE3D1"/>
                </a:solidFill>
                <a:latin typeface="Segoe UI Light"/>
              </a:rPr>
              <a:t>a </a:t>
            </a:r>
            <a:r>
              <a:rPr sz="5200" b="0" i="1">
                <a:solidFill>
                  <a:srgbClr val="BD9457"/>
                </a:solidFill>
                <a:latin typeface="Segoe UI Light"/>
              </a:rPr>
              <a:t>pilot</a:t>
            </a:r>
            <a:r>
              <a:rPr sz="5200" b="0" i="0">
                <a:solidFill>
                  <a:srgbClr val="ECE3D1"/>
                </a:solidFill>
                <a:latin typeface="Segoe UI Ligh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6634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AE99"/>
                </a:solidFill>
                <a:latin typeface="Segoe UI Light"/>
              </a:rPr>
              <a:t>One floor of Scan-to-BIM, or a single building at LOD 300. Low risk — judge our quality first-hand, then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CE3D1"/>
                </a:solidFill>
                <a:latin typeface="Segoe UI Semibold"/>
              </a:rPr>
              <a:t>Book a 15-minute call    </a:t>
            </a:r>
            <a:r>
              <a:rPr sz="1000" b="0" i="0">
                <a:solidFill>
                  <a:srgbClr val="877C6B"/>
                </a:solidFill>
                <a:latin typeface="Consolas"/>
              </a:rPr>
              <a:t>Rami +44 7786 410586  ·  Enes +90 533 566 67 80  ·  info@ecy.com.tr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