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ECY · ARCHITECTURE &amp; BIM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7744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OFFSHORE BIM PRODUCTION PARTNER · UNITED KINGDOM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0" i="0">
                <a:solidFill>
                  <a:srgbClr val="ECE3D1"/>
                </a:solidFill>
                <a:latin typeface="Segoe UI Light"/>
              </a:rPr>
              <a:t>The </a:t>
            </a:r>
            <a:r>
              <a:rPr sz="4600" b="0" i="1">
                <a:solidFill>
                  <a:srgbClr val="BD9457"/>
                </a:solidFill>
                <a:latin typeface="Segoe UI Light"/>
              </a:rPr>
              <a:t>production engine</a:t>
            </a:r>
          </a:p>
          <a:p>
            <a:pPr algn="l">
              <a:lnSpc>
                <a:spcPct val="104000"/>
              </a:lnSpc>
            </a:pPr>
            <a:r>
              <a:rPr sz="4600" b="0" i="0">
                <a:solidFill>
                  <a:srgbClr val="ECE3D1"/>
                </a:solidFill>
                <a:latin typeface="Segoe UI Light"/>
              </a:rPr>
              <a:t>behind UK practices.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7200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B9AE99"/>
                </a:solidFill>
                <a:latin typeface="Segoe UI Light"/>
              </a:rPr>
              <a:t>You keep the client and the design intent. We take the modelling load.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5440680"/>
            <a:ext cx="2011680" cy="0"/>
          </a:xfrm>
          <a:prstGeom prst="line">
            <a:avLst/>
          </a:prstGeom>
          <a:ln w="12700">
            <a:solidFill>
              <a:srgbClr val="BD9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57150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50" b="0" i="0">
                <a:solidFill>
                  <a:srgbClr val="ECE3D1"/>
                </a:solidFill>
                <a:latin typeface="Segoe UI"/>
              </a:rPr>
              <a:t>Enes Cemil Yağcı — Founder &amp; BIM Manager</a:t>
            </a:r>
            <a:r>
              <a:rPr sz="1000" b="0" i="0">
                <a:solidFill>
                  <a:srgbClr val="BD9457"/>
                </a:solidFill>
                <a:latin typeface="Consolas"/>
              </a:rPr>
              <a:t>    ·    Autodesk Expert Elite · ~250 worldwide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77C6B"/>
                </a:solidFill>
                <a:latin typeface="Consolas"/>
              </a:rPr>
              <a:t>UK contact: Rami Daşkın · +44 7786 410586 · rami@ecy.com.tr · ecy.com.tr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WHY ECY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THREE REASONS, UP FRONT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 i="0">
                <a:solidFill>
                  <a:srgbClr val="ECE3D1"/>
                </a:solidFill>
                <a:latin typeface="Segoe UI Light"/>
              </a:rPr>
              <a:t>A </a:t>
            </a:r>
            <a:r>
              <a:rPr sz="3300" b="0" i="1">
                <a:solidFill>
                  <a:srgbClr val="BD9457"/>
                </a:solidFill>
                <a:latin typeface="Segoe UI Light"/>
              </a:rPr>
              <a:t>UK contact</a:t>
            </a:r>
            <a:r>
              <a:rPr sz="3300" b="0" i="0">
                <a:solidFill>
                  <a:srgbClr val="ECE3D1"/>
                </a:solidFill>
                <a:latin typeface="Segoe UI Light"/>
              </a:rPr>
              <a:t>, an elite credential, proven delivery.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46120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 i="0">
                <a:solidFill>
                  <a:srgbClr val="DBB571"/>
                </a:solidFill>
                <a:latin typeface="Segoe UI Light"/>
              </a:rPr>
              <a:t>~250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160520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EXPERT ELITE WORLDWIDE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29443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Autodesk Expert Elite-led production — a recognition held by only ~250 professionals worldwide.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22776" y="3246120"/>
            <a:ext cx="0" cy="2194560"/>
          </a:xfrm>
          <a:prstGeom prst="line">
            <a:avLst/>
          </a:prstGeom>
          <a:ln w="9525">
            <a:solidFill>
              <a:srgbClr val="6E57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51376" y="3246120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4160520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REPRESENTATIVE, 26 YRS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51376" y="4526280"/>
            <a:ext cx="29443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Rami Daşkın, 26 years in the UK. Same time zone, local meetings, no language gap.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32904" y="3246120"/>
            <a:ext cx="0" cy="2194560"/>
          </a:xfrm>
          <a:prstGeom prst="line">
            <a:avLst/>
          </a:prstGeom>
          <a:ln w="9525">
            <a:solidFill>
              <a:srgbClr val="6E57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61504" y="3246120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000" b="0" i="0">
                <a:solidFill>
                  <a:srgbClr val="ECE3D1"/>
                </a:solidFill>
                <a:latin typeface="Segoe UI Light"/>
              </a:rPr>
              <a:t>218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4160520"/>
            <a:ext cx="30358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PROJECTS · 17 COUNTRIES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4526280"/>
            <a:ext cx="294436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A track record that travels — 15 years' team experience, standards-led throughout.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UK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03 / 14</a:t>
            </a:r>
          </a:p>
        </p:txBody>
      </p:sp>
      <p:pic>
        <p:nvPicPr>
          <p:cNvPr id="5" name="Picture 4" descr="Leas-1_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240280"/>
            <a:ext cx="4434840" cy="3108960"/>
          </a:xfrm>
          <a:prstGeom prst="rect">
            <a:avLst/>
          </a:prstGeom>
          <a:ln w="12700">
            <a:solidFill>
              <a:srgbClr val="2A211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FOLKESTONE, KENT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669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0" i="0">
                <a:solidFill>
                  <a:srgbClr val="ECE3D1"/>
                </a:solidFill>
                <a:latin typeface="Segoe UI Light"/>
              </a:rPr>
              <a:t>Leas Pavilion — led by ECY's </a:t>
            </a:r>
            <a:r>
              <a:rPr sz="2700" b="0" i="1">
                <a:solidFill>
                  <a:srgbClr val="BD9457"/>
                </a:solidFill>
                <a:latin typeface="Segoe UI Light"/>
              </a:rPr>
              <a:t>BIM Manager</a:t>
            </a:r>
            <a:r>
              <a:rPr sz="27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83464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A UK project led by Enes Cemil Yağcı as BIM Manager — the 1902 Grade II listed tea room, restored beneath a new nine-storey, 91-home development.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023360"/>
            <a:ext cx="5394960" cy="2697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00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00" b="0" i="0">
                <a:solidFill>
                  <a:srgbClr val="877C6B"/>
                </a:solidFill>
                <a:latin typeface="Segoe UI Light"/>
              </a:rPr>
              <a:t>As BIM Manager, Enes led RIBA Stage 5–7 execution-drawing coordination — structural, mechanical and electrical.</a:t>
            </a:r>
          </a:p>
          <a:p>
            <a:pPr algn="l">
              <a:lnSpc>
                <a:spcPct val="140000"/>
              </a:lnSpc>
              <a:spcAft>
                <a:spcPts val="900"/>
              </a:spcAft>
            </a:pPr>
            <a:r>
              <a:rPr sz="100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00" b="0" i="0">
                <a:solidFill>
                  <a:srgbClr val="877C6B"/>
                </a:solidFill>
                <a:latin typeface="Segoe UI Light"/>
              </a:rPr>
              <a:t>He ran the BIM model and subcontractor drawing review for dimensional accuracy and tolerances.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4406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5345"/>
                </a:solidFill>
                <a:latin typeface="Consolas"/>
              </a:rPr>
              <a:t>PROJECT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7424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100" b="0" i="0">
                <a:solidFill>
                  <a:srgbClr val="ECE3D1"/>
                </a:solidFill>
                <a:latin typeface="Segoe UI Light"/>
              </a:rPr>
              <a:t>133,715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SQ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57424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100" b="0" i="0">
                <a:solidFill>
                  <a:srgbClr val="ECE3D1"/>
                </a:solidFill>
                <a:latin typeface="Segoe UI Light"/>
              </a:rPr>
              <a:t>91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APARTMENTS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57424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100" b="0" i="0">
                <a:solidFill>
                  <a:srgbClr val="ECE3D1"/>
                </a:solidFill>
                <a:latin typeface="Segoe UI Light"/>
              </a:rPr>
              <a:t>9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STOREYS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5440680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B5345"/>
                </a:solidFill>
                <a:latin typeface="Consolas"/>
              </a:rPr>
              <a:t>Project context · BIM delivery led by ECY's BIM Manager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UK MARKET CONDITIONS · 2025–2026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0" i="0">
                <a:solidFill>
                  <a:srgbClr val="ECE3D1"/>
                </a:solidFill>
                <a:latin typeface="Segoe UI Light"/>
              </a:rPr>
              <a:t>The </a:t>
            </a:r>
            <a:r>
              <a:rPr sz="3200" b="0" i="1">
                <a:solidFill>
                  <a:srgbClr val="BD9457"/>
                </a:solidFill>
                <a:latin typeface="Segoe UI Light"/>
              </a:rPr>
              <a:t>modelling load</a:t>
            </a:r>
            <a:r>
              <a:rPr sz="3200" b="0" i="0">
                <a:solidFill>
                  <a:srgbClr val="ECE3D1"/>
                </a:solidFill>
                <a:latin typeface="Segoe UI Light"/>
              </a:rPr>
              <a:t> is rising. The people aren't.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834640"/>
            <a:ext cx="635508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Hardest hiring market in years — construction &amp; engineering are the UK's worst-hit sector for recruitment difficulty (BCC, 2024).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BIM headcount is a heavy fixed cost — a Coordinator runs c.£34k–£54k, a Manager up to c.£80k, before on-costs and software.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Pipeline is recovering as build costs climb — more delivery, less room to staff up permanently (RICS).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Standards are non-negotiable — ISO 19650 on UK public work; the Building Safety Act 'golden thread' on higher-risk buildings.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2834640"/>
            <a:ext cx="0" cy="3154680"/>
          </a:xfrm>
          <a:prstGeom prst="line">
            <a:avLst/>
          </a:prstGeom>
          <a:ln w="9525">
            <a:solidFill>
              <a:srgbClr val="6E57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83879" y="2926080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DBB571"/>
                </a:solidFill>
                <a:latin typeface="Segoe UI Light"/>
              </a:rPr>
              <a:t>82%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CONSTR. &amp; ENG. FIRMS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750" b="0" i="0">
                <a:solidFill>
                  <a:srgbClr val="5B5345"/>
                </a:solidFill>
                <a:latin typeface="Consolas"/>
              </a:rPr>
              <a:t>hiring difficulty · BCC Q2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977639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+17%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FORWARD WORKLOAD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750" b="0" i="0">
                <a:solidFill>
                  <a:srgbClr val="5B5345"/>
                </a:solidFill>
                <a:latin typeface="Consolas"/>
              </a:rPr>
              <a:t>RICS · infra +32%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5029200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~251.5k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EXTRA WORKERS BY 2028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750" b="0" i="0">
                <a:solidFill>
                  <a:srgbClr val="5B5345"/>
                </a:solidFill>
                <a:latin typeface="Consolas"/>
              </a:rPr>
              <a:t>CITB skills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WHERE WE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THE GAP IN UK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300" b="0" i="0">
                <a:solidFill>
                  <a:srgbClr val="ECE3D1"/>
                </a:solidFill>
                <a:latin typeface="Segoe UI Light"/>
              </a:rPr>
              <a:t>A production engine, </a:t>
            </a:r>
            <a:r>
              <a:rPr sz="3300" b="0" i="1">
                <a:solidFill>
                  <a:srgbClr val="BD9457"/>
                </a:solidFill>
                <a:latin typeface="Segoe UI Light"/>
              </a:rPr>
              <a:t>not a competitor</a:t>
            </a:r>
            <a:r>
              <a:rPr sz="33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0040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3400" b="0" i="0">
                <a:solidFill>
                  <a:srgbClr val="ECE3D1"/>
                </a:solidFill>
                <a:latin typeface="Segoe UI Light"/>
              </a:rPr>
              <a:t>YOU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Client relationship · design intent · your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0040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3400" b="0" i="0">
                <a:solidFill>
                  <a:srgbClr val="DBB571"/>
                </a:solidFill>
                <a:latin typeface="Segoe UI Light"/>
              </a:rPr>
              <a:t>ECY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BIM production · on your standards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60520" y="3456432"/>
            <a:ext cx="3474720" cy="0"/>
          </a:xfrm>
          <a:prstGeom prst="line">
            <a:avLst/>
          </a:prstGeom>
          <a:ln w="12700">
            <a:solidFill>
              <a:srgbClr val="BD9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60520" y="312724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D9457"/>
                </a:solidFill>
                <a:latin typeface="Consolas"/>
              </a:rPr>
              <a:t>the modelling load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892040"/>
            <a:ext cx="10241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The squeeze: rising ISO 19650 duties, scarce and expensive BIM talent, deadline spikes you can't permanently staff for.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Our answer: a dedicated, standards-led production team that works to your BEP, your naming and your CDE — white-label.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FIVE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0" i="0">
                <a:solidFill>
                  <a:srgbClr val="ECE3D1"/>
                </a:solidFill>
                <a:latin typeface="Segoe UI Light"/>
              </a:rPr>
              <a:t>From point cloud to </a:t>
            </a:r>
            <a:r>
              <a:rPr sz="3200" b="0" i="1">
                <a:solidFill>
                  <a:srgbClr val="BD9457"/>
                </a:solidFill>
                <a:latin typeface="Segoe UI Light"/>
              </a:rPr>
              <a:t>coordinated, costed</a:t>
            </a:r>
            <a:r>
              <a:rPr sz="3200" b="0" i="0">
                <a:solidFill>
                  <a:srgbClr val="ECE3D1"/>
                </a:solidFill>
                <a:latin typeface="Segoe UI Light"/>
              </a:rPr>
              <a:t>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01    </a:t>
            </a:r>
            <a:r>
              <a:rPr sz="1650" b="0" i="0">
                <a:solidFill>
                  <a:srgbClr val="ECE3D1"/>
                </a:solidFill>
                <a:latin typeface="Segoe UI Light"/>
              </a:rPr>
              <a:t>BIM Modelling · Revit · arch / struct / MEP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7247" y="29718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B5345"/>
                </a:solidFill>
                <a:latin typeface="Consolas"/>
              </a:rPr>
              <a:t>LOD 300–400 · AS-BUILT TO 500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3493008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3639312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02    </a:t>
            </a:r>
            <a:r>
              <a:rPr sz="1650" b="0" i="0">
                <a:solidFill>
                  <a:srgbClr val="ECE3D1"/>
                </a:solidFill>
                <a:latin typeface="Segoe UI Light"/>
              </a:rPr>
              <a:t>Scan-to-BIM · point cloud to as-built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07247" y="36850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B5345"/>
                </a:solidFill>
                <a:latin typeface="Consolas"/>
              </a:rPr>
              <a:t>E57 / RCP → REVIT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4206240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4352544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03    </a:t>
            </a:r>
            <a:r>
              <a:rPr sz="1650" b="0" i="0">
                <a:solidFill>
                  <a:srgbClr val="ECE3D1"/>
                </a:solidFill>
                <a:latin typeface="Segoe UI Light"/>
              </a:rPr>
              <a:t>Coordination &amp; Clash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7247" y="43982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B5345"/>
                </a:solidFill>
                <a:latin typeface="Consolas"/>
              </a:rPr>
              <a:t>NAVISWORKS FEDERATED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4919472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5065776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04    </a:t>
            </a:r>
            <a:r>
              <a:rPr sz="1650" b="0" i="0">
                <a:solidFill>
                  <a:srgbClr val="ECE3D1"/>
                </a:solidFill>
                <a:latin typeface="Segoe UI Light"/>
              </a:rPr>
              <a:t>4D / 5D · programme &amp;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7247" y="51114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B5345"/>
                </a:solidFill>
                <a:latin typeface="Consolas"/>
              </a:rPr>
              <a:t>PRIMAVERA P6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5779008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05    </a:t>
            </a:r>
            <a:r>
              <a:rPr sz="1650" b="0" i="0">
                <a:solidFill>
                  <a:srgbClr val="ECE3D1"/>
                </a:solidFill>
                <a:latin typeface="Segoe UI Light"/>
              </a:rPr>
              <a:t>BEP &amp; CDE setup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7247" y="58247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B5345"/>
                </a:solidFill>
                <a:latin typeface="Consolas"/>
              </a:rPr>
              <a:t>ISO 19650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UK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ISO 19650 BY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6675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Built to </a:t>
            </a:r>
            <a:r>
              <a:rPr sz="3000" b="0" i="1">
                <a:solidFill>
                  <a:srgbClr val="BD9457"/>
                </a:solidFill>
                <a:latin typeface="Segoe UI Light"/>
              </a:rPr>
              <a:t>UK standard</a:t>
            </a:r>
            <a:r>
              <a:rPr sz="3000" b="0" i="0">
                <a:solidFill>
                  <a:srgbClr val="ECE3D1"/>
                </a:solidFill>
                <a:latin typeface="Segoe UI Light"/>
              </a:rPr>
              <a:t>, not retrofitted to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88036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048" y="2862072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B9AE99"/>
                </a:solidFill>
                <a:latin typeface="Segoe UI Light"/>
              </a:rPr>
              <a:t>ISO 19650-1 to -5 — delivery, operational, exchange &amp; security-minded information management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3538728"/>
            <a:ext cx="7114031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370332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NAMING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3685032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B9AE99"/>
                </a:solidFill>
                <a:latin typeface="Segoe UI Light"/>
              </a:rPr>
              <a:t>BS EN ISO 19650-2 UK convention (Project-Originator-Volume-Level-Type-Role-Number); supersedes BS 1192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4361688"/>
            <a:ext cx="7114031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452628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CDE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4507992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B9AE99"/>
                </a:solidFill>
                <a:latin typeface="Segoe UI Light"/>
              </a:rPr>
              <a:t>Controlled suitability codes  S0 WIP → S1–S4 Shared → A/B Published — full revision traceability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5184648"/>
            <a:ext cx="7114031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534924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D9457"/>
                </a:solidFill>
                <a:latin typeface="Consolas"/>
              </a:rPr>
              <a:t>STAGE-ALIGNED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5330952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 i="0">
                <a:solidFill>
                  <a:srgbClr val="B9AE99"/>
                </a:solidFill>
                <a:latin typeface="Segoe UI Light"/>
              </a:rPr>
              <a:t>RIBA Plan of Work 2020 stages 0–7; proven at Stages 5–7 execution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6007608"/>
            <a:ext cx="7114031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366760" y="288036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B5345"/>
                </a:solidFill>
                <a:latin typeface="Consolas"/>
              </a:rPr>
              <a:t>NAMING EXAMPLE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004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BB571"/>
                </a:solidFill>
                <a:latin typeface="Consolas"/>
              </a:rPr>
              <a:t>WBP-EDO-00-XX-SP-Z-0001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794760"/>
            <a:ext cx="3108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900" b="0" i="0">
                <a:solidFill>
                  <a:srgbClr val="877C6B"/>
                </a:solidFill>
                <a:latin typeface="Consolas"/>
              </a:rPr>
              <a:t>Project · Originator · Volume</a:t>
            </a:r>
          </a:p>
          <a:p>
            <a:pPr algn="l">
              <a:lnSpc>
                <a:spcPct val="160000"/>
              </a:lnSpc>
            </a:pPr>
            <a:r>
              <a:rPr sz="900" b="0" i="0">
                <a:solidFill>
                  <a:srgbClr val="877C6B"/>
                </a:solidFill>
                <a:latin typeface="Consolas"/>
              </a:rPr>
              <a:t>Level · Type · Role · Number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DE-RISKING OFFSHORE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YOUR THREE FEARS, ANSWERED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0" i="0">
                <a:solidFill>
                  <a:srgbClr val="ECE3D1"/>
                </a:solidFill>
                <a:latin typeface="Segoe UI Light"/>
              </a:rPr>
              <a:t>Quality, revision risk, communication — each with </a:t>
            </a:r>
            <a:r>
              <a:rPr sz="2700" b="0" i="1">
                <a:solidFill>
                  <a:srgbClr val="BD9457"/>
                </a:solidFill>
                <a:latin typeface="Segoe UI Light"/>
              </a:rPr>
              <a:t>a mechanism</a:t>
            </a:r>
            <a:r>
              <a:rPr sz="27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7180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2944368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Every model is QA-gated against the BEP and EIR — model-health checks, Navisworks clash validation and a documented review at the S0 → S1/S2 transition. No model is issued to your CDE until it passes the QA gate against the agreed LOD.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1248" y="3922776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408736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REVISION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4059935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ISO 19650 CDE workflow with controlled status codes (S0→S4→A/B): every issue traceable, single-source-of-truth, full revision history per container. No overwriting, no lost markups.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5038344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520293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D9457"/>
                </a:solidFill>
                <a:latin typeface="Consolas"/>
              </a:rPr>
              <a:t>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5175503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B9AE99"/>
                </a:solidFill>
                <a:latin typeface="Segoe UI Light"/>
              </a:rPr>
              <a:t>A UK-based representative — same time zone, local meetings, no language gap. Work flows to the BEP and MIDP/TIDP dates, with issue-tracked clash reports.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6153912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09 / 14</a:t>
            </a:r>
          </a:p>
        </p:txBody>
      </p:sp>
      <p:pic>
        <p:nvPicPr>
          <p:cNvPr id="5" name="Picture 4" descr="STRUCTURAL BIM MODELLING AND SHEETS OF HOSPITAL  ERBIL IRAQ_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48840"/>
            <a:ext cx="4617720" cy="3291840"/>
          </a:xfrm>
          <a:prstGeom prst="rect">
            <a:avLst/>
          </a:prstGeom>
          <a:ln w="12700">
            <a:solidFill>
              <a:srgbClr val="2A2114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ERBIL INTERNATIONAL HOSPITAL · IRAQ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486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Caught in </a:t>
            </a:r>
            <a:r>
              <a:rPr sz="3000" b="0" i="1">
                <a:solidFill>
                  <a:srgbClr val="BD9457"/>
                </a:solidFill>
                <a:latin typeface="Segoe UI Light"/>
              </a:rPr>
              <a:t>the model</a:t>
            </a:r>
            <a:r>
              <a:rPr sz="3000" b="0" i="0">
                <a:solidFill>
                  <a:srgbClr val="ECE3D1"/>
                </a:solidFill>
                <a:latin typeface="Segoe UI Light"/>
              </a:rPr>
              <a:t>, not on 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26080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Structural BIM and federated multi-discipline coordination on a large, complex healthcare structure — issues resolved before construction.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480560"/>
            <a:ext cx="1600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LOD 350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MODEL DETAIL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4480560"/>
            <a:ext cx="1600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600" b="0" i="0">
                <a:solidFill>
                  <a:srgbClr val="DBB571"/>
                </a:solidFill>
                <a:latin typeface="Segoe UI Light"/>
              </a:rPr>
              <a:t>829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CLASHES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4480560"/>
            <a:ext cx="1600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600" b="0" i="0">
                <a:solidFill>
                  <a:srgbClr val="ECE3D1"/>
                </a:solidFill>
                <a:latin typeface="Segoe UI Light"/>
              </a:rPr>
              <a:t>20 wk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TURNAROUND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CASE STUDY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HEMA, EMMEN · NETHERLANDS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10512"/>
            <a:ext cx="4480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700" b="0" i="0">
                <a:solidFill>
                  <a:srgbClr val="ECE3D1"/>
                </a:solidFill>
                <a:latin typeface="Segoe UI Light"/>
              </a:rPr>
              <a:t>Point cloud in. As-built </a:t>
            </a:r>
            <a:r>
              <a:rPr sz="2700" b="0" i="1">
                <a:solidFill>
                  <a:srgbClr val="BD9457"/>
                </a:solidFill>
                <a:latin typeface="Segoe UI Light"/>
              </a:rPr>
              <a:t>model out</a:t>
            </a:r>
            <a:r>
              <a:rPr sz="27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71800"/>
            <a:ext cx="4297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B9AE99"/>
                </a:solidFill>
                <a:latin typeface="Segoe UI Light"/>
              </a:rPr>
              <a:t>The literal before/after — a registered scan of a building corner, beside its parametric Revit twin.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43400"/>
            <a:ext cx="20116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300" b="0" i="0">
                <a:solidFill>
                  <a:srgbClr val="ECE3D1"/>
                </a:solidFill>
                <a:latin typeface="Segoe UI Light"/>
              </a:rPr>
              <a:t>3,500 m²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5808" y="4343400"/>
            <a:ext cx="20116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300" b="0" i="0">
                <a:solidFill>
                  <a:srgbClr val="ECE3D1"/>
                </a:solidFill>
                <a:latin typeface="Segoe UI Light"/>
              </a:rPr>
              <a:t>LOD 300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AS-BUILT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349240"/>
            <a:ext cx="20116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2300" b="0" i="0">
                <a:solidFill>
                  <a:srgbClr val="ECE3D1"/>
                </a:solidFill>
                <a:latin typeface="Segoe UI Light"/>
              </a:rPr>
              <a:t>8 wk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800" b="0" i="0">
                <a:solidFill>
                  <a:srgbClr val="877C6B"/>
                </a:solidFill>
                <a:latin typeface="Consolas"/>
              </a:rPr>
              <a:t>DELIVERY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3258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BEFORE · REGISTERED POINT CLOUD</a:t>
            </a:r>
          </a:p>
        </p:txBody>
      </p:sp>
      <p:pic>
        <p:nvPicPr>
          <p:cNvPr id="12" name="Picture 11" descr="HEMA_012_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600200"/>
            <a:ext cx="5852160" cy="2103120"/>
          </a:xfrm>
          <a:prstGeom prst="rect">
            <a:avLst/>
          </a:prstGeom>
          <a:ln w="12700">
            <a:solidFill>
              <a:srgbClr val="2A2114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0" y="385876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D9457"/>
                </a:solidFill>
                <a:latin typeface="Consolas"/>
              </a:rPr>
              <a:t>AFTER · AS-BUILT REVIT MODEL</a:t>
            </a:r>
          </a:p>
        </p:txBody>
      </p:sp>
      <p:pic>
        <p:nvPicPr>
          <p:cNvPr id="14" name="Picture 13" descr="HEMA_01_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4133087"/>
            <a:ext cx="5852160" cy="2103120"/>
          </a:xfrm>
          <a:prstGeom prst="rect">
            <a:avLst/>
          </a:prstGeom>
          <a:ln w="12700">
            <a:solidFill>
              <a:srgbClr val="2A2114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TO YOUR BEP, NAMING AND CDE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200" b="0" i="0">
                <a:solidFill>
                  <a:srgbClr val="ECE3D1"/>
                </a:solidFill>
                <a:latin typeface="Segoe UI Light"/>
              </a:rPr>
              <a:t>Five steps, all on </a:t>
            </a:r>
            <a:r>
              <a:rPr sz="3200" b="0" i="1">
                <a:solidFill>
                  <a:srgbClr val="BD9457"/>
                </a:solidFill>
                <a:latin typeface="Segoe UI Light"/>
              </a:rPr>
              <a:t>your standards</a:t>
            </a:r>
            <a:r>
              <a:rPr sz="32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2688" y="3749039"/>
            <a:ext cx="10326319" cy="0"/>
          </a:xfrm>
          <a:prstGeom prst="line">
            <a:avLst/>
          </a:prstGeom>
          <a:ln w="12700">
            <a:solidFill>
              <a:srgbClr val="BD9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2688" y="3675887"/>
            <a:ext cx="0" cy="146304"/>
          </a:xfrm>
          <a:prstGeom prst="line">
            <a:avLst/>
          </a:prstGeom>
          <a:ln w="17780">
            <a:solidFill>
              <a:srgbClr val="DBB57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2880359"/>
            <a:ext cx="19738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3D1"/>
                </a:solidFill>
                <a:latin typeface="Segoe UI Semibold"/>
              </a:rPr>
              <a:t>Onboard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950207"/>
            <a:ext cx="18366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B9AE99"/>
                </a:solidFill>
                <a:latin typeface="Segoe UI Light"/>
              </a:rPr>
              <a:t>Adopt your BEP, naming &amp; CDE; confirm scope vs the EIR.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97951" y="3675887"/>
            <a:ext cx="0" cy="146304"/>
          </a:xfrm>
          <a:prstGeom prst="line">
            <a:avLst/>
          </a:prstGeom>
          <a:ln w="17780">
            <a:solidFill>
              <a:srgbClr val="DBB57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906511" y="2880359"/>
            <a:ext cx="19738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3D1"/>
                </a:solidFill>
                <a:latin typeface="Segoe UI Semibold"/>
              </a:rPr>
              <a:t>Produce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6511" y="3950207"/>
            <a:ext cx="18366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B9AE99"/>
                </a:solidFill>
                <a:latin typeface="Segoe UI Light"/>
              </a:rPr>
              <a:t>Model to agreed LOD on the MIDP / TIDP schedule.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63215" y="3675887"/>
            <a:ext cx="0" cy="146304"/>
          </a:xfrm>
          <a:prstGeom prst="line">
            <a:avLst/>
          </a:prstGeom>
          <a:ln w="17780">
            <a:solidFill>
              <a:srgbClr val="DBB57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71775" y="2880359"/>
            <a:ext cx="19738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3D1"/>
                </a:solidFill>
                <a:latin typeface="Segoe UI Semibold"/>
              </a:rPr>
              <a:t>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1775" y="3950207"/>
            <a:ext cx="18366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B9AE99"/>
                </a:solidFill>
                <a:latin typeface="Segoe UI Light"/>
              </a:rPr>
              <a:t>Model-health &amp; standards checks, clash validation, review.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28479" y="3675887"/>
            <a:ext cx="0" cy="146304"/>
          </a:xfrm>
          <a:prstGeom prst="line">
            <a:avLst/>
          </a:prstGeom>
          <a:ln w="17780">
            <a:solidFill>
              <a:srgbClr val="DBB57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037039" y="2880359"/>
            <a:ext cx="19738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04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3D1"/>
                </a:solidFill>
                <a:latin typeface="Segoe UI Semibold"/>
              </a:rPr>
              <a:t>Deliver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7039" y="3950207"/>
            <a:ext cx="18366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B9AE99"/>
                </a:solidFill>
                <a:latin typeface="Segoe UI Light"/>
              </a:rPr>
              <a:t>Issue through the CDE with controlled status codes.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93743" y="3675887"/>
            <a:ext cx="0" cy="146304"/>
          </a:xfrm>
          <a:prstGeom prst="line">
            <a:avLst/>
          </a:prstGeom>
          <a:ln w="17780">
            <a:solidFill>
              <a:srgbClr val="DBB57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02303" y="2880359"/>
            <a:ext cx="19738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05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ECE3D1"/>
                </a:solidFill>
                <a:latin typeface="Segoe UI Semibold"/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2303" y="3950207"/>
            <a:ext cx="18366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B9AE99"/>
                </a:solidFill>
                <a:latin typeface="Segoe UI Light"/>
              </a:rPr>
              <a:t>Issue-tracked clash reports &amp; progress vs plan.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THREE WAYS TO WORK · GBP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72768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0" i="0">
                <a:solidFill>
                  <a:srgbClr val="ECE3D1"/>
                </a:solidFill>
                <a:latin typeface="Segoe UI Light"/>
              </a:rPr>
              <a:t>Pick the model that </a:t>
            </a:r>
            <a:r>
              <a:rPr sz="3000" b="0" i="1">
                <a:solidFill>
                  <a:srgbClr val="BD9457"/>
                </a:solidFill>
                <a:latin typeface="Segoe UI Light"/>
              </a:rPr>
              <a:t>fits the work</a:t>
            </a:r>
            <a:r>
              <a:rPr sz="30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50992" y="2578608"/>
            <a:ext cx="2578608" cy="0"/>
          </a:xfrm>
          <a:prstGeom prst="line">
            <a:avLst/>
          </a:prstGeom>
          <a:ln w="17780">
            <a:solidFill>
              <a:srgbClr val="BD9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50992" y="2267712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D9457"/>
                </a:solidFill>
                <a:latin typeface="Consolas"/>
              </a:rPr>
              <a:t>MOST POPULAR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9191" y="2743200"/>
            <a:ext cx="2606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A  </a:t>
            </a:r>
            <a:r>
              <a:rPr sz="1300" b="0" i="0">
                <a:solidFill>
                  <a:srgbClr val="ECE3D1"/>
                </a:solidFill>
                <a:latin typeface="Segoe UI Semibold"/>
              </a:rPr>
              <a:t>Fixed-fee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2743200"/>
            <a:ext cx="2606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B  </a:t>
            </a:r>
            <a:r>
              <a:rPr sz="1300" b="0" i="0">
                <a:solidFill>
                  <a:srgbClr val="DBB571"/>
                </a:solidFill>
                <a:latin typeface="Segoe UI Semibold"/>
              </a:rPr>
              <a:t>Dedicated BIM resource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22792" y="2743200"/>
            <a:ext cx="26060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C  </a:t>
            </a:r>
            <a:r>
              <a:rPr sz="1300" b="0" i="0">
                <a:solidFill>
                  <a:srgbClr val="ECE3D1"/>
                </a:solidFill>
                <a:latin typeface="Segoe UI Semibold"/>
              </a:rPr>
              <a:t>Per-unit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456432"/>
            <a:ext cx="10509199" cy="0"/>
          </a:xfrm>
          <a:prstGeom prst="line">
            <a:avLst/>
          </a:prstGeom>
          <a:ln w="9525">
            <a:solidFill>
              <a:srgbClr val="6E57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6576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BEST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3639312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Bounded, defined-scope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3639312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CE3D1"/>
                </a:solidFill>
                <a:latin typeface="Segoe UI Light"/>
              </a:rPr>
              <a:t>Ongoing capacity as part of your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3639312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High-volume Scan-to-BIM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4206240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4315968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COMMITMENT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9191" y="42976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Per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0992" y="42976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CE3D1"/>
                </a:solidFill>
                <a:latin typeface="Segoe UI Light"/>
              </a:rPr>
              <a:t>Monthly FTE, scalable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4297680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None — pay per item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864608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974336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9191" y="4956048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Milestone payments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0992" y="4956048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CE3D1"/>
                </a:solidFill>
                <a:latin typeface="Segoe UI Light"/>
              </a:rPr>
              <a:t>Predictable monthly fee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22792" y="4956048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Per model / sheet / m²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5522976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5632703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77C6B"/>
                </a:solidFill>
                <a:latin typeface="Consolas"/>
              </a:rPr>
              <a:t>SCALING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9191" y="5614416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Fixed to 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5614416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CE3D1"/>
                </a:solidFill>
                <a:latin typeface="Segoe UI Light"/>
              </a:rPr>
              <a:t>Add or release resources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2792" y="5614416"/>
            <a:ext cx="2560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B9AE99"/>
                </a:solidFill>
                <a:latin typeface="Segoe UI Light"/>
              </a:rPr>
              <a:t>Flexes with volume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6181344"/>
            <a:ext cx="10509199" cy="0"/>
          </a:xfrm>
          <a:prstGeom prst="line">
            <a:avLst/>
          </a:prstGeom>
          <a:ln w="6350">
            <a:solidFill>
              <a:srgbClr val="2A211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6318503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77C6B"/>
                </a:solidFill>
                <a:latin typeface="Consolas"/>
              </a:rPr>
              <a:t>Priced in GBP · NDA + simple service agreement · deposit + milestones · UK reverse-charge VAT applies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YOUR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UNITED KINGDOM AND TÜRKİYE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0" i="1">
                <a:solidFill>
                  <a:srgbClr val="BD9457"/>
                </a:solidFill>
                <a:latin typeface="Segoe UI Light"/>
              </a:rPr>
              <a:t>One UK call</a:t>
            </a:r>
            <a:r>
              <a:rPr sz="3000" b="0" i="0">
                <a:solidFill>
                  <a:srgbClr val="ECE3D1"/>
                </a:solidFill>
                <a:latin typeface="Segoe UI Light"/>
              </a:rPr>
              <a:t> away. One production team behind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3108960"/>
            <a:ext cx="0" cy="2606040"/>
          </a:xfrm>
          <a:prstGeom prst="line">
            <a:avLst/>
          </a:prstGeom>
          <a:ln w="9525">
            <a:solidFill>
              <a:srgbClr val="6E57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315468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850" b="0" i="0">
                <a:solidFill>
                  <a:srgbClr val="877C6B"/>
                </a:solidFill>
                <a:latin typeface="Consolas"/>
              </a:rPr>
              <a:t>UNITED KINGDOM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0" i="0">
                <a:solidFill>
                  <a:srgbClr val="ECE3D1"/>
                </a:solidFill>
                <a:latin typeface="Segoe UI Light"/>
              </a:rPr>
              <a:t>Rami Daşkın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0" i="0">
                <a:solidFill>
                  <a:srgbClr val="BD9457"/>
                </a:solidFill>
                <a:latin typeface="Segoe UI"/>
              </a:rPr>
              <a:t>UK Representative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+44 7786 410586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rami@ecy.com.tr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100" b="0" i="0">
                <a:solidFill>
                  <a:srgbClr val="877C6B"/>
                </a:solidFill>
                <a:latin typeface="Segoe UI Light"/>
              </a:rPr>
              <a:t>26 years in the UK · same time zone · local meetings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154680"/>
            <a:ext cx="49377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850" b="0" i="0">
                <a:solidFill>
                  <a:srgbClr val="877C6B"/>
                </a:solidFill>
                <a:latin typeface="Consolas"/>
              </a:rPr>
              <a:t>TÜRKİYE · HEAD OFFICE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0" i="0">
                <a:solidFill>
                  <a:srgbClr val="ECE3D1"/>
                </a:solidFill>
                <a:latin typeface="Segoe UI Light"/>
              </a:rPr>
              <a:t>Enes Cemil Yağcı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50" b="0" i="0">
                <a:solidFill>
                  <a:srgbClr val="BD9457"/>
                </a:solidFill>
                <a:latin typeface="Segoe UI"/>
              </a:rPr>
              <a:t>Founder &amp; BIM Manager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+90 533 566 67 80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B9AE99"/>
                </a:solidFill>
                <a:latin typeface="Consolas"/>
              </a:rPr>
              <a:t>info@ecy.com.tr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100" b="0" i="0">
                <a:solidFill>
                  <a:srgbClr val="877C6B"/>
                </a:solidFill>
                <a:latin typeface="Segoe UI Light"/>
              </a:rPr>
              <a:t>Autodesk Expert Elite · openBIM · Primavera P6 · Adana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1206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07247" y="51206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877C6B"/>
                </a:solidFill>
                <a:latin typeface="Consolas"/>
              </a:rPr>
              <a:t>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D9457"/>
                </a:solidFill>
                <a:latin typeface="Consolas"/>
              </a:rPr>
              <a:t>LOW-RISK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9748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ECE3D1"/>
                </a:solidFill>
                <a:latin typeface="Segoe UI Light"/>
              </a:rPr>
              <a:t>Start with </a:t>
            </a:r>
            <a:r>
              <a:rPr sz="5200" b="0" i="1">
                <a:solidFill>
                  <a:srgbClr val="BD9457"/>
                </a:solidFill>
                <a:latin typeface="Segoe UI Light"/>
              </a:rPr>
              <a:t>a pilot</a:t>
            </a:r>
            <a:r>
              <a:rPr sz="5200" b="0" i="0">
                <a:solidFill>
                  <a:srgbClr val="ECE3D1"/>
                </a:solidFill>
                <a:latin typeface="Segoe UI Light"/>
              </a:rPr>
              <a:t>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3886200"/>
            <a:ext cx="1828800" cy="0"/>
          </a:xfrm>
          <a:prstGeom prst="line">
            <a:avLst/>
          </a:prstGeom>
          <a:ln w="12700">
            <a:solidFill>
              <a:srgbClr val="BD94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1248" y="411480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B9AE99"/>
                </a:solidFill>
                <a:latin typeface="Segoe UI Light"/>
              </a:rPr>
              <a:t>One bounded deliverable, on your standards, so the proof is yours before the commitment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10058400" cy="173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Send us a defined scope — a model, a scan, a coordination package.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We deliver it to your BEP, naming and CDE, QA-gated and issue-tracked.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050" b="0" i="0">
                <a:solidFill>
                  <a:srgbClr val="BD9457"/>
                </a:solidFill>
                <a:latin typeface="Consolas"/>
              </a:rPr>
              <a:t>—   </a:t>
            </a:r>
            <a:r>
              <a:rPr sz="1250" b="0" i="0">
                <a:solidFill>
                  <a:srgbClr val="B9AE99"/>
                </a:solidFill>
                <a:latin typeface="Segoe UI Light"/>
              </a:rPr>
              <a:t>Judge us on the output, then scale only if it earns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355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CE3D1"/>
                </a:solidFill>
                <a:latin typeface="Segoe UI Semibold"/>
              </a:rPr>
              <a:t>Book a 15-minute call    </a:t>
            </a:r>
            <a:r>
              <a:rPr sz="1000" b="0" i="0">
                <a:solidFill>
                  <a:srgbClr val="877C6B"/>
                </a:solidFill>
                <a:latin typeface="Consolas"/>
              </a:rPr>
              <a:t>Rami +44 7786 410586  ·  rami@ecy.com.tr  ·  ecy.com.tr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